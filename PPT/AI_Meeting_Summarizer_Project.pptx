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662B0-F2C9-497B-868C-DB52FD615EF1}" v="561" dt="2025-11-19T17:26:33.508"/>
  </p1510:revLst>
</p1510:revInfo>
</file>

<file path=ppt/tableStyles.xml><?xml version="1.0" encoding="utf-8"?>
<a:tblStyleLst xmlns:a="http://schemas.openxmlformats.org/drawingml/2006/main" def="{4D8ED5D6-834D-4101-B922-27F475636DB3}">
  <a:tblStyle styleId="{4D8ED5D6-834D-4101-B922-27F475636D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95412" y="1192469"/>
            <a:ext cx="940117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AI Live</a:t>
            </a:r>
            <a:r>
              <a:rPr lang="en-US" sz="6000" b="1" i="0" u="none" strike="noStrike" cap="none" dirty="0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 Meeting Summarizer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261419" y="3292885"/>
            <a:ext cx="8013290" cy="15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Real-time Transcription &amp; AI-Powered Summarization</a:t>
            </a:r>
            <a:endParaRPr lang="en-US" sz="2400" b="0" i="0" u="none" strike="noStrike" cap="none" dirty="0">
              <a:solidFill>
                <a:srgbClr val="F0F0F0"/>
              </a:solidFill>
              <a:latin typeface="Urbanist"/>
              <a:ea typeface="Urbanist"/>
              <a:cs typeface="Urbanist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F0F0F0"/>
                </a:solidFill>
                <a:latin typeface="Urbanist"/>
                <a:ea typeface="Urbanist"/>
                <a:cs typeface="Urbanist"/>
              </a:rPr>
              <a:t>INFOSYS AI VIRTUAL INTERNSHIP</a:t>
            </a:r>
          </a:p>
          <a:p>
            <a:pPr algn="ctr">
              <a:lnSpc>
                <a:spcPct val="150000"/>
              </a:lnSpc>
            </a:pPr>
            <a:r>
              <a:rPr lang="en-US" sz="2100" dirty="0">
                <a:solidFill>
                  <a:srgbClr val="F0F0F0"/>
                </a:solidFill>
                <a:latin typeface="Urbanist"/>
                <a:ea typeface="Urbanist"/>
                <a:cs typeface="Urbanist"/>
              </a:rPr>
              <a:t>DEDEEPYA NARNE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338387"/>
            <a:ext cx="952500" cy="47625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765708" y="2671762"/>
            <a:ext cx="466058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Project Objective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491863" y="3511191"/>
            <a:ext cx="7097661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To develop a real-time Meeting Summarizer that leverages speech-to-text (STT) models and open-source LLMs to generate structured summaries from live recordings, delivered as a fully integrated Streamlit application.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1797460" y="2045570"/>
            <a:ext cx="8191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Live Audio Capture:</a:t>
            </a:r>
            <a:r>
              <a:rPr lang="en-US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Convert live audio to text in real-time using offline STT models like Vosk or Whisper.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1797460" y="2542406"/>
            <a:ext cx="879372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Speaker Identification:</a:t>
            </a:r>
            <a:r>
              <a:rPr lang="en-US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Identify and segment the audio by speaker using diarization models like pyannote.audio.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1797460" y="3112062"/>
            <a:ext cx="951885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LLM Summarization:</a:t>
            </a:r>
            <a:r>
              <a:rPr lang="en-US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Integrate transformer-based summarization using LLMs from Groq API or Hugging Face (T5, BART).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797460" y="3718590"/>
            <a:ext cx="951885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Structured Summaries:</a:t>
            </a:r>
            <a:r>
              <a:rPr lang="en-US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Deliver summaries only after the 'Stop' button is pressed and the complete transcript is available.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797460" y="4337408"/>
            <a:ext cx="85847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Interactive UI:</a:t>
            </a:r>
            <a:r>
              <a:rPr lang="en-US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Build an interactive UI using Streamlit with real-time control (Start/Stop) and result rendering.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797460" y="4821954"/>
            <a:ext cx="8191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One-Click Export:</a:t>
            </a:r>
            <a:r>
              <a:rPr lang="en-US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Export summaries as Markdown/PDF and send them via email with a single click.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6460" y="209319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9589" y="257774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91879" y="311052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16460" y="371705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16460" y="433587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6460" y="4869579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Key Features &amp; Outcomes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71500" y="382905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07968" y="4086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1. Audio Capture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4533900"/>
            <a:ext cx="25412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Live audio captured from microphone via PyAudio/SoundDevice in a separate thread.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3343888" y="22193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2. Real-time STT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3407419" y="26670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Audio chunks transcribed in real-time using Vosk/Whisper and displayed on the UI.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179808" y="4086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3. Diarization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243339" y="45339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On 'Stop', the full .wav file is processed by pyannote.audio to tag all speakers.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015728" y="22193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4. Summarization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079259" y="26670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diarized transcript is sent to an LLM (Groq/T5) to generate a structured summary.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1746870" y="3752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38100" cap="flat" cmpd="sng">
            <a:solidFill>
              <a:srgbClr val="39FF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582790" y="3752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38100" cap="flat" cmpd="sng">
            <a:solidFill>
              <a:srgbClr val="39FF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7418709" y="3752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38100" cap="flat" cmpd="sng">
            <a:solidFill>
              <a:srgbClr val="39FF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10254629" y="3752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38100" cap="flat" cmpd="sng">
            <a:solidFill>
              <a:srgbClr val="39FF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System Architecture Pipeline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57425"/>
            <a:ext cx="34290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257425"/>
            <a:ext cx="34290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257425"/>
            <a:ext cx="342900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370885" y="3267075"/>
            <a:ext cx="183022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Audio &amp; STT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66775" y="394335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 threaded audio capture from the microphone and connect the STT engine (</a:t>
            </a:r>
            <a:r>
              <a:rPr lang="en-US" sz="135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Vosk</a:t>
            </a:r>
            <a:r>
              <a:rPr lang="en-US" sz="13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/Whisper) to transcribe in real time.</a:t>
            </a:r>
            <a:endParaRPr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4645818" y="3267075"/>
            <a:ext cx="290036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Speaker Diarization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676775" y="394335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Integrate pyannote.audio to process the final audio file, tag different speakers, and format the transcript.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435816" y="3267075"/>
            <a:ext cx="294036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LLM Summarization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486775" y="394335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Design prompt templates and an API wrapper for summarizer models (Groq LLaMA, T5, BART) to handle diarized text.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4550" y="25717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5717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05975" y="25717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Core Modules (Part 1)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05037"/>
            <a:ext cx="342900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205037"/>
            <a:ext cx="342900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205037"/>
            <a:ext cx="34290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935831" y="3214687"/>
            <a:ext cx="270033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Streamlit Frontend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66775" y="389096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Design the real-time UI with Start/Stop buttons, a live transcription log, and a final summary/diarization viewer.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860845" y="3214687"/>
            <a:ext cx="247030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Backend Pipeline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676775" y="389096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 multi-threading and queuing to manage capture, transcription, and async summarization to prevent UI blocking.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415813" y="3214687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Finalization &amp; Export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486775" y="42529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 export (PDF/MD), email (smtplib), structured logging, final testing, and project documentation.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0250" y="25193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5193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34550" y="251936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Core Modules (Part 2)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/>
        </p:nvSpPr>
        <p:spPr>
          <a:xfrm>
            <a:off x="571500" y="571500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b="1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1 </a:t>
            </a:r>
            <a:r>
              <a:rPr lang="en-US" sz="3000" b="1" i="0" u="none" strike="noStrike" cap="none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3000" b="1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Speech To Text</a:t>
            </a:r>
            <a:endParaRPr lang="en-US" sz="3000" b="1" dirty="0">
              <a:solidFill>
                <a:srgbClr val="39FF14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1645674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Tasks &amp; Deliverables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232194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Define the technical architecture (multi-threaded pipeline) and set up the Python environment. Compare Vosk and Whisper models.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319437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 threaded audio capture from the microphone and connect the STT engine to transcribe in real time.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4066809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Deliverable:</a:t>
            </a:r>
            <a:r>
              <a:rPr lang="en-US" sz="1350" b="0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 Python module for real-time STT.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466495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Metric:</a:t>
            </a:r>
            <a:r>
              <a:rPr lang="en-US" sz="1350" b="0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 Word Error Rate (WER) &lt; 15%.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398CF0-AA4D-E127-CF21-994C44E48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241" y="1825112"/>
            <a:ext cx="5469195" cy="3195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/>
        </p:nvSpPr>
        <p:spPr>
          <a:xfrm>
            <a:off x="571500" y="167732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Tasks &amp; Deliverables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221072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Integrate pyannote.audio to tag speakers in the .wav file after recording ends. Convert segments into a readable diarized transcript.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289652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Choose the summarizer model (Groq, T5, BART) and design prompts to handle the speaker-tagged text.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3582322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Deliverables:</a:t>
            </a:r>
            <a:r>
              <a:rPr lang="en-US" sz="1350" b="0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 Diarized transcript function &amp; Summarizer module.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401094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Metrics:</a:t>
            </a:r>
            <a:r>
              <a:rPr lang="en-US" sz="1350" b="0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 Diarization Error Rate (DER) &lt; 20%, ROUGE &gt; 0.4.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b="1" i="0" u="none" strike="noStrike" cap="none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-US" sz="3000" b="1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000" b="1" i="0" u="none" strike="noStrike" cap="none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3000" b="1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Speaker </a:t>
            </a:r>
            <a:r>
              <a:rPr lang="en-US" sz="3000" b="1" dirty="0" err="1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Diarization</a:t>
            </a:r>
            <a:endParaRPr lang="en-US" sz="3000" b="1" dirty="0" err="1">
              <a:solidFill>
                <a:srgbClr val="39FF14"/>
              </a:solidFill>
              <a:latin typeface="Urbanist"/>
              <a:ea typeface="Urbanist"/>
              <a:cs typeface="Urbanis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74F29A-932E-7A05-1D97-62500B1FD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917" y="1437967"/>
            <a:ext cx="5892682" cy="3441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571500" y="571500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b="1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3 </a:t>
            </a:r>
            <a:r>
              <a:rPr lang="en-US" sz="3000" b="1" i="0" u="none" strike="noStrike" cap="none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3000" b="1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Frontend Development</a:t>
            </a:r>
            <a:endParaRPr lang="en-US" sz="3000" b="1" dirty="0">
              <a:solidFill>
                <a:srgbClr val="39FF14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171941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Tasks &amp; Deliverables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2395691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Build the backend queue for the full pipeline (transcript → diarization → summary) to ensure summarization only triggers after 'Stop'.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71500" y="3268121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Design the Streamlit UI with real-time components: Start/Stop buttons, transcription log, summary viewer, and status bar.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4140551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Deliverable:</a:t>
            </a:r>
            <a:r>
              <a:rPr lang="en-US" sz="1350" b="0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 Fully functional Streamlit application.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473869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Metric:</a:t>
            </a:r>
            <a:r>
              <a:rPr lang="en-US" sz="1350" b="0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 Smooth end-to-end functionality with no UI blocking.</a:t>
            </a:r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1B5B5B-2B38-929C-6E98-2BAC5EBD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6" y="-770"/>
            <a:ext cx="6307702" cy="3123280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0BCD5D-1ED4-D86C-603C-314F8D303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644" y="3168292"/>
            <a:ext cx="6317228" cy="315154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/>
        </p:nvSpPr>
        <p:spPr>
          <a:xfrm>
            <a:off x="571500" y="177994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Tasks &amp; Deliverables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2313346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Add download options (Export as .md and .pdf) and integrate the email system (smtplib) for one-click sharing.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2999146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 structured logging for each session and finalize all documentation (architecture, APIs, UI).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3684946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Prepare a final demo script and package the entire solution for a GitHub release.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4370746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Deliverables:</a:t>
            </a:r>
            <a:r>
              <a:rPr lang="en-US" sz="1350" b="0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 Documented codebase, GitHub repo, final deck.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4799371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Metric:</a:t>
            </a:r>
            <a:r>
              <a:rPr lang="en-US" sz="1350" b="0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 Fully functional export and email features.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b="1" i="0" u="none" strike="noStrike" cap="none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lang="en-US" sz="3000" b="1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000" b="1" i="0" u="none" strike="noStrike" cap="none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3000" b="1" dirty="0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Additional Features</a:t>
            </a:r>
            <a:endParaRPr lang="en-US" sz="3000" b="1" dirty="0">
              <a:solidFill>
                <a:srgbClr val="39FF14"/>
              </a:solidFill>
              <a:latin typeface="Urbanist"/>
              <a:ea typeface="Urbanist"/>
              <a:cs typeface="Urbanis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339BAA-E3BF-0D3D-FC8D-DD4259C87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967" y="1512554"/>
            <a:ext cx="5960807" cy="33166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23"/>
          <p:cNvGraphicFramePr/>
          <p:nvPr>
            <p:extLst>
              <p:ext uri="{D42A27DB-BD31-4B8C-83A1-F6EECF244321}">
                <p14:modId xmlns:p14="http://schemas.microsoft.com/office/powerpoint/2010/main" val="3948016844"/>
              </p:ext>
            </p:extLst>
          </p:nvPr>
        </p:nvGraphicFramePr>
        <p:xfrm>
          <a:off x="571500" y="2009775"/>
          <a:ext cx="11048975" cy="3676650"/>
        </p:xfrm>
        <a:graphic>
          <a:graphicData uri="http://schemas.openxmlformats.org/drawingml/2006/table">
            <a:tbl>
              <a:tblPr firstRow="1" bandRow="1">
                <a:noFill/>
                <a:tableStyleId>{4D8ED5D6-834D-4101-B922-27F475636DB3}</a:tableStyleId>
              </a:tblPr>
              <a:tblGrid>
                <a:gridCol w="218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9FF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Milestone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9FF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Focus Area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9FF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 / Tool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9FF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Target / Goal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</a:rPr>
                        <a:t>Speech to Text</a:t>
                      </a:r>
                      <a:endParaRPr sz="1350" b="0" i="0" u="none" strike="noStrike" cap="none" dirty="0">
                        <a:solidFill>
                          <a:schemeClr val="bg1"/>
                        </a:solidFill>
                        <a:latin typeface="Urbanist"/>
                        <a:ea typeface="Urbanist"/>
                        <a:cs typeface="Urbanis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STT System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WER (</a:t>
                      </a:r>
                      <a:r>
                        <a:rPr lang="en-US" sz="1350" b="0" i="0" u="none" strike="noStrike" cap="none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jiwer</a:t>
                      </a: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&lt; 15%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</a:rPr>
                        <a:t>Speaker </a:t>
                      </a:r>
                      <a:r>
                        <a:rPr lang="en-US" sz="1350" b="0" i="0" u="none" strike="noStrike" cap="none" dirty="0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</a:rPr>
                        <a:t>Diarization</a:t>
                      </a:r>
                      <a:endParaRPr sz="1350" b="0" i="0" u="none" strike="noStrike" cap="none" dirty="0" err="1">
                        <a:solidFill>
                          <a:schemeClr val="bg1"/>
                        </a:solidFill>
                        <a:latin typeface="Urbanist"/>
                        <a:ea typeface="Urbanist"/>
                        <a:cs typeface="Urbanis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err="1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Diarization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DER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&lt; 20%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baseline="0" noProof="0" dirty="0">
                          <a:solidFill>
                            <a:srgbClr val="FFFFFF"/>
                          </a:solidFill>
                          <a:latin typeface="Urbanist"/>
                        </a:rPr>
                        <a:t>Speaker </a:t>
                      </a:r>
                      <a:r>
                        <a:rPr lang="en-US" sz="1350" b="0" i="0" u="none" strike="noStrike" cap="none" baseline="0" noProof="0" dirty="0" err="1">
                          <a:solidFill>
                            <a:srgbClr val="FFFFFF"/>
                          </a:solidFill>
                          <a:latin typeface="Urbanist"/>
                        </a:rPr>
                        <a:t>Diarization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Summarization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ROUGE Score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&gt; 0.4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</a:rPr>
                        <a:t>Frontend Development</a:t>
                      </a:r>
                      <a:endParaRPr sz="1350" b="0" i="0" u="none" strike="noStrike" cap="none" dirty="0">
                        <a:solidFill>
                          <a:schemeClr val="bg1"/>
                        </a:solidFill>
                        <a:latin typeface="Urbanist"/>
                        <a:ea typeface="Urbanist"/>
                        <a:cs typeface="Urbanis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UI Integration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Responsiveness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 lag / errors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</a:rPr>
                        <a:t>Additional Features</a:t>
                      </a:r>
                      <a:endParaRPr sz="1350" b="0" i="0" u="none" strike="noStrike" cap="none" dirty="0">
                        <a:solidFill>
                          <a:schemeClr val="bg1"/>
                        </a:solidFill>
                        <a:latin typeface="Urbanist"/>
                        <a:ea typeface="Urbanist"/>
                        <a:cs typeface="Urbanis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Full System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Full Pipeline Flow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Working Export/Email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3" name="Google Shape;213;p23"/>
          <p:cNvSpPr/>
          <p:nvPr/>
        </p:nvSpPr>
        <p:spPr>
          <a:xfrm>
            <a:off x="571500" y="2633662"/>
            <a:ext cx="21874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2758975" y="2633662"/>
            <a:ext cx="264720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406181" y="2633662"/>
            <a:ext cx="2789932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8196113" y="2633662"/>
            <a:ext cx="3424386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71500" y="3243262"/>
            <a:ext cx="21874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2758975" y="3243262"/>
            <a:ext cx="264720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406181" y="3243262"/>
            <a:ext cx="2789932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8196113" y="3243262"/>
            <a:ext cx="3424386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71500" y="3852862"/>
            <a:ext cx="21874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2758975" y="3852862"/>
            <a:ext cx="264720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5406181" y="3852862"/>
            <a:ext cx="2789932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8196113" y="3852862"/>
            <a:ext cx="3424386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71500" y="4462462"/>
            <a:ext cx="21874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2758975" y="4462462"/>
            <a:ext cx="264720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406181" y="4462462"/>
            <a:ext cx="2789932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8196113" y="4462462"/>
            <a:ext cx="3424386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71500" y="5072062"/>
            <a:ext cx="21874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2758975" y="5072062"/>
            <a:ext cx="264720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406181" y="5072062"/>
            <a:ext cx="2789932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8196113" y="5072062"/>
            <a:ext cx="3424386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Key Evaluation Metrics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/>
        </p:nvSpPr>
        <p:spPr>
          <a:xfrm>
            <a:off x="295275" y="260508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37290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Microsoft Office PowerPoint</Application>
  <PresentationFormat>Widescreen</PresentationFormat>
  <Paragraphs>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Arial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dedee</dc:creator>
  <cp:lastModifiedBy>dedeepyanarne@gmail.com</cp:lastModifiedBy>
  <cp:revision>121</cp:revision>
  <dcterms:modified xsi:type="dcterms:W3CDTF">2025-11-19T22:42:57Z</dcterms:modified>
</cp:coreProperties>
</file>